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00B05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6" d="100"/>
          <a:sy n="156" d="100"/>
        </p:scale>
        <p:origin x="444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2E90CD2-CE08-D4DE-61EE-CBB0FB1852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1290206C-9BEA-6D39-1937-47AFE7F8D9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DAC44B5-3CA2-2236-D36A-8AA0CA9797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26DEA0-22E4-4D52-B01E-C7A2D2E07EB5}" type="datetimeFigureOut">
              <a:rPr kumimoji="1" lang="ja-JP" altLang="en-US" smtClean="0"/>
              <a:t>2026/1/15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672C984-A714-F186-2D1E-968F26C043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EAB29F9-CCC8-75B7-8C90-2D65CDFCA6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CB9B67-3494-4C9D-A8E8-2ED8056E977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984791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1F00F81-3AB4-4407-B62E-2DF214C099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F688577-72F5-1701-8830-492BE692E1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C9DFFEB-1074-9F0D-F093-2C7D418CB3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26DEA0-22E4-4D52-B01E-C7A2D2E07EB5}" type="datetimeFigureOut">
              <a:rPr kumimoji="1" lang="ja-JP" altLang="en-US" smtClean="0"/>
              <a:t>2026/1/15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71583D6-2E92-08D5-014A-7F7A81A68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C7C52D4-714D-7669-4000-A2B12CF4F9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CB9B67-3494-4C9D-A8E8-2ED8056E977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121353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FEC70A9-BD6D-2F9E-6D86-05C3BCD11F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052391C-E1A6-27C6-009D-A5C531DB3E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FF20C57-35D0-84E4-9EC1-5FE882E863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26DEA0-22E4-4D52-B01E-C7A2D2E07EB5}" type="datetimeFigureOut">
              <a:rPr kumimoji="1" lang="ja-JP" altLang="en-US" smtClean="0"/>
              <a:t>2026/1/15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C563252-558A-4A36-C5F0-CF07AA8E10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6ED4CFF-9D7C-8178-24BE-E9E982F4CE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CB9B67-3494-4C9D-A8E8-2ED8056E977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376636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5F30D9B-DC16-C182-CA14-BBC6874802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975D382-CC42-87E8-ECC9-391976CB87F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BEC1761B-A799-4CA3-2F11-6A9208FDE3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E465D83-81B1-3B46-61D2-26A8B69820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26DEA0-22E4-4D52-B01E-C7A2D2E07EB5}" type="datetimeFigureOut">
              <a:rPr kumimoji="1" lang="ja-JP" altLang="en-US" smtClean="0"/>
              <a:t>2026/1/15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91822D6-14AB-43C1-D247-AC88506F64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9557E34-165F-86DC-71A5-A2CFDEB9AE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CB9B67-3494-4C9D-A8E8-2ED8056E977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33585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CA3AF15-399D-6BB1-A76B-6ABC65A497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D34DDDF-1CAF-A567-5D02-5D92F54A68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7D91C723-311C-AA17-A3DB-B743311F0C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852EB26-A456-49C7-79D3-FC45D499FB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27CAB8F8-558C-8FC2-8175-8457865C7C2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A015DA15-F800-A2FF-8E36-BF9E6CF312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26DEA0-22E4-4D52-B01E-C7A2D2E07EB5}" type="datetimeFigureOut">
              <a:rPr kumimoji="1" lang="ja-JP" altLang="en-US" smtClean="0"/>
              <a:t>2026/1/15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38A0155C-4705-0094-25A3-7A3DC716B7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EE265985-A450-94D1-2068-E757E30D0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CB9B67-3494-4C9D-A8E8-2ED8056E977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725251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8F10528-59C9-485A-9385-549191AE6B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D000ED5E-9DD8-352C-1513-526C1985FF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26DEA0-22E4-4D52-B01E-C7A2D2E07EB5}" type="datetimeFigureOut">
              <a:rPr kumimoji="1" lang="ja-JP" altLang="en-US" smtClean="0"/>
              <a:t>2026/1/15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1147D655-30DF-7708-E825-75CAF0E8A1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3183086B-5299-A270-8801-B1232F632A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CB9B67-3494-4C9D-A8E8-2ED8056E977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124154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3D026642-57D5-0753-C0EA-AE05318781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26DEA0-22E4-4D52-B01E-C7A2D2E07EB5}" type="datetimeFigureOut">
              <a:rPr kumimoji="1" lang="ja-JP" altLang="en-US" smtClean="0"/>
              <a:t>2026/1/15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196D47C1-1A86-8D07-9DF9-1BBC37F19A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CE60CDF-F764-17B4-2951-98C85AC42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CB9B67-3494-4C9D-A8E8-2ED8056E977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899439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B650FBD-0873-B219-2B3F-C31A75658D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62C1043-1874-41A4-F8D3-94F7422138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A0A9446-4AB4-47D0-14F6-80454E16E3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23C4ACC7-0415-3BF2-2185-FC18996C0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26DEA0-22E4-4D52-B01E-C7A2D2E07EB5}" type="datetimeFigureOut">
              <a:rPr kumimoji="1" lang="ja-JP" altLang="en-US" smtClean="0"/>
              <a:t>2026/1/15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419FD86C-8C35-F9CC-5DD8-2BEC2F8CF2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9BB8D197-35DE-A993-5668-D486577D9C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CB9B67-3494-4C9D-A8E8-2ED8056E977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90612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1DAA488-2879-7BD0-6397-274216EDBE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2C8F106E-72A1-B1DD-42D1-3D43CB934A4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6C7DB06F-1D52-F867-F8A7-01515CDB1B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2E3CC1B-7844-E5ED-870E-0B025B1063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26DEA0-22E4-4D52-B01E-C7A2D2E07EB5}" type="datetimeFigureOut">
              <a:rPr kumimoji="1" lang="ja-JP" altLang="en-US" smtClean="0"/>
              <a:t>2026/1/15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A7CD6CB-8F08-DB0C-942F-46C966B804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2753C0FD-1B1A-1BE8-FE02-75922EA1C6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CB9B67-3494-4C9D-A8E8-2ED8056E977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099532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4AED78-2ED5-87B0-756B-9ADA11B162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47CC08DF-CCD4-9F57-22DD-B913859C5C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C985E97-915A-96C2-6047-90676402D7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26DEA0-22E4-4D52-B01E-C7A2D2E07EB5}" type="datetimeFigureOut">
              <a:rPr kumimoji="1" lang="ja-JP" altLang="en-US" smtClean="0"/>
              <a:t>2026/1/15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5897928-F689-46CA-6A22-58B7A216C2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A195790-1980-5BBB-0413-599A29ECF7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CB9B67-3494-4C9D-A8E8-2ED8056E977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6546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AD8B503F-E6B9-1838-E9A7-865903359BF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1C635636-5F60-FCB0-C0F8-F3C6C49017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E976D8C-DE78-4BA6-363D-ABF26A4211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26DEA0-22E4-4D52-B01E-C7A2D2E07EB5}" type="datetimeFigureOut">
              <a:rPr kumimoji="1" lang="ja-JP" altLang="en-US" smtClean="0"/>
              <a:t>2026/1/15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BB2076F-314D-7469-6D34-4B4F514581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395DCFC-B5A7-8E78-CC50-2C347357DD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CB9B67-3494-4C9D-A8E8-2ED8056E977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935905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20E48EA4-F0F3-DFFB-0565-BEBEFA0943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46D1441-4CDB-6E8E-ED01-E1B00AF455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FCD668F-B5CA-76B3-FDA0-E82744D788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626DEA0-22E4-4D52-B01E-C7A2D2E07EB5}" type="datetimeFigureOut">
              <a:rPr kumimoji="1" lang="ja-JP" altLang="en-US" smtClean="0"/>
              <a:t>2026/1/15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838481E-61FF-34AB-23F7-55337539C2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AA15678-A26F-863F-971B-47F1E98620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CB9B67-3494-4C9D-A8E8-2ED8056E977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405131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A30F4B-1805-8B7C-33E2-6738F67D85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2" name="直線矢印コネクタ 131">
            <a:extLst>
              <a:ext uri="{FF2B5EF4-FFF2-40B4-BE49-F238E27FC236}">
                <a16:creationId xmlns:a16="http://schemas.microsoft.com/office/drawing/2014/main" id="{FD7980E6-FA88-8B8E-7206-A45FFD834692}"/>
              </a:ext>
            </a:extLst>
          </p:cNvPr>
          <p:cNvCxnSpPr>
            <a:cxnSpLocks/>
          </p:cNvCxnSpPr>
          <p:nvPr/>
        </p:nvCxnSpPr>
        <p:spPr>
          <a:xfrm>
            <a:off x="1662287" y="4089965"/>
            <a:ext cx="976903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直線矢印コネクタ 99">
            <a:extLst>
              <a:ext uri="{FF2B5EF4-FFF2-40B4-BE49-F238E27FC236}">
                <a16:creationId xmlns:a16="http://schemas.microsoft.com/office/drawing/2014/main" id="{E9CA9A52-DB63-B265-DF21-BADFFFB7F9E1}"/>
              </a:ext>
            </a:extLst>
          </p:cNvPr>
          <p:cNvCxnSpPr>
            <a:cxnSpLocks/>
          </p:cNvCxnSpPr>
          <p:nvPr/>
        </p:nvCxnSpPr>
        <p:spPr>
          <a:xfrm>
            <a:off x="1299328" y="2446880"/>
            <a:ext cx="0" cy="1153570"/>
          </a:xfrm>
          <a:prstGeom prst="straightConnector1">
            <a:avLst/>
          </a:prstGeom>
          <a:ln w="76200">
            <a:solidFill>
              <a:schemeClr val="bg1">
                <a:lumMod val="65000"/>
              </a:schemeClr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直線矢印コネクタ 71">
            <a:extLst>
              <a:ext uri="{FF2B5EF4-FFF2-40B4-BE49-F238E27FC236}">
                <a16:creationId xmlns:a16="http://schemas.microsoft.com/office/drawing/2014/main" id="{98C6AD48-9093-9970-3BE4-40BF4981A534}"/>
              </a:ext>
            </a:extLst>
          </p:cNvPr>
          <p:cNvCxnSpPr>
            <a:cxnSpLocks/>
          </p:cNvCxnSpPr>
          <p:nvPr/>
        </p:nvCxnSpPr>
        <p:spPr>
          <a:xfrm>
            <a:off x="4142284" y="1467005"/>
            <a:ext cx="723735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直線矢印コネクタ 67">
            <a:extLst>
              <a:ext uri="{FF2B5EF4-FFF2-40B4-BE49-F238E27FC236}">
                <a16:creationId xmlns:a16="http://schemas.microsoft.com/office/drawing/2014/main" id="{8D69B48C-B394-CC99-7427-267A590ECD7F}"/>
              </a:ext>
            </a:extLst>
          </p:cNvPr>
          <p:cNvCxnSpPr>
            <a:cxnSpLocks/>
          </p:cNvCxnSpPr>
          <p:nvPr/>
        </p:nvCxnSpPr>
        <p:spPr>
          <a:xfrm>
            <a:off x="1662287" y="1467005"/>
            <a:ext cx="976903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図 4" descr="屋内, 座る, テーブル, ボウル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E10A3EB1-82FC-DEDA-658D-8CC6076AE1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9184" y="908060"/>
            <a:ext cx="1066800" cy="1066800"/>
          </a:xfrm>
          <a:prstGeom prst="rect">
            <a:avLst/>
          </a:prstGeom>
        </p:spPr>
      </p:pic>
      <p:pic>
        <p:nvPicPr>
          <p:cNvPr id="7" name="図 6" descr="ロゴ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796DE8FA-EECA-8B4D-4876-6BA0C6B1D70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9739" y="960038"/>
            <a:ext cx="1066800" cy="1066800"/>
          </a:xfrm>
          <a:prstGeom prst="rect">
            <a:avLst/>
          </a:prstGeom>
        </p:spPr>
      </p:pic>
      <p:pic>
        <p:nvPicPr>
          <p:cNvPr id="9" name="図 8" descr="ぼやけた写真&#10;&#10;AI 生成コンテンツは誤りを含む可能性があります。">
            <a:extLst>
              <a:ext uri="{FF2B5EF4-FFF2-40B4-BE49-F238E27FC236}">
                <a16:creationId xmlns:a16="http://schemas.microsoft.com/office/drawing/2014/main" id="{60584BEA-4633-7683-C532-CAE5064159B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16262" y="2780213"/>
            <a:ext cx="1066800" cy="1066800"/>
          </a:xfrm>
          <a:prstGeom prst="rect">
            <a:avLst/>
          </a:prstGeom>
        </p:spPr>
      </p:pic>
      <p:pic>
        <p:nvPicPr>
          <p:cNvPr id="11" name="図 10" descr="ぼやけた写真&#10;&#10;AI 生成コンテンツは誤りを含む可能性があります。">
            <a:extLst>
              <a:ext uri="{FF2B5EF4-FFF2-40B4-BE49-F238E27FC236}">
                <a16:creationId xmlns:a16="http://schemas.microsoft.com/office/drawing/2014/main" id="{B9BC7F57-DE2B-0F63-8B66-F4E4F84AAC2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19035" y="4380674"/>
            <a:ext cx="1066800" cy="1066800"/>
          </a:xfrm>
          <a:prstGeom prst="rect">
            <a:avLst/>
          </a:prstGeom>
        </p:spPr>
      </p:pic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029A872F-A5F4-7001-EEEC-9EE8BFC0EAE5}"/>
              </a:ext>
            </a:extLst>
          </p:cNvPr>
          <p:cNvSpPr txBox="1"/>
          <p:nvPr/>
        </p:nvSpPr>
        <p:spPr>
          <a:xfrm>
            <a:off x="4022535" y="5945137"/>
            <a:ext cx="285425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ja-JP" altLang="ja-JP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Multiple </a:t>
            </a:r>
            <a:r>
              <a:rPr kumimoji="0" lang="en-US" altLang="ja-JP" sz="2400" dirty="0">
                <a:latin typeface="Arial Unicode MS"/>
              </a:rPr>
              <a:t>predictions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ja-JP" altLang="ja-JP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with MC Dropout</a:t>
            </a:r>
            <a:endParaRPr kumimoji="0" lang="ja-JP" altLang="ja-JP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26" name="右中かっこ 25">
            <a:extLst>
              <a:ext uri="{FF2B5EF4-FFF2-40B4-BE49-F238E27FC236}">
                <a16:creationId xmlns:a16="http://schemas.microsoft.com/office/drawing/2014/main" id="{89E4051C-5C55-B34C-4807-3CB565337E7C}"/>
              </a:ext>
            </a:extLst>
          </p:cNvPr>
          <p:cNvSpPr>
            <a:spLocks noChangeAspect="1"/>
          </p:cNvSpPr>
          <p:nvPr/>
        </p:nvSpPr>
        <p:spPr>
          <a:xfrm>
            <a:off x="6120000" y="2772000"/>
            <a:ext cx="226083" cy="2672248"/>
          </a:xfrm>
          <a:prstGeom prst="rightBrace">
            <a:avLst>
              <a:gd name="adj1" fmla="val 8333"/>
              <a:gd name="adj2" fmla="val 54966"/>
            </a:avLst>
          </a:prstGeom>
          <a:ln w="762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cxnSp>
        <p:nvCxnSpPr>
          <p:cNvPr id="29" name="直線矢印コネクタ 28">
            <a:extLst>
              <a:ext uri="{FF2B5EF4-FFF2-40B4-BE49-F238E27FC236}">
                <a16:creationId xmlns:a16="http://schemas.microsoft.com/office/drawing/2014/main" id="{7414B6CF-2A64-4670-3215-C991E81D401A}"/>
              </a:ext>
            </a:extLst>
          </p:cNvPr>
          <p:cNvCxnSpPr>
            <a:cxnSpLocks/>
          </p:cNvCxnSpPr>
          <p:nvPr/>
        </p:nvCxnSpPr>
        <p:spPr>
          <a:xfrm flipV="1">
            <a:off x="4462128" y="3326636"/>
            <a:ext cx="454134" cy="450429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直線矢印コネクタ 30">
            <a:extLst>
              <a:ext uri="{FF2B5EF4-FFF2-40B4-BE49-F238E27FC236}">
                <a16:creationId xmlns:a16="http://schemas.microsoft.com/office/drawing/2014/main" id="{10ADBA24-A3F6-0DE0-BEA2-288DF8EFB532}"/>
              </a:ext>
            </a:extLst>
          </p:cNvPr>
          <p:cNvCxnSpPr>
            <a:cxnSpLocks/>
          </p:cNvCxnSpPr>
          <p:nvPr/>
        </p:nvCxnSpPr>
        <p:spPr>
          <a:xfrm>
            <a:off x="4171982" y="4146738"/>
            <a:ext cx="490162" cy="548461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4BEA826B-A822-D13D-7BB7-67CE9EB5D548}"/>
              </a:ext>
            </a:extLst>
          </p:cNvPr>
          <p:cNvSpPr txBox="1"/>
          <p:nvPr/>
        </p:nvSpPr>
        <p:spPr>
          <a:xfrm rot="16200000">
            <a:off x="4583492" y="3994854"/>
            <a:ext cx="10667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・・・</a:t>
            </a:r>
          </a:p>
        </p:txBody>
      </p:sp>
      <p:cxnSp>
        <p:nvCxnSpPr>
          <p:cNvPr id="63" name="直線矢印コネクタ 62">
            <a:extLst>
              <a:ext uri="{FF2B5EF4-FFF2-40B4-BE49-F238E27FC236}">
                <a16:creationId xmlns:a16="http://schemas.microsoft.com/office/drawing/2014/main" id="{AECD55FC-7FB1-60DF-AC81-454F035F8E5C}"/>
              </a:ext>
            </a:extLst>
          </p:cNvPr>
          <p:cNvCxnSpPr>
            <a:cxnSpLocks/>
          </p:cNvCxnSpPr>
          <p:nvPr/>
        </p:nvCxnSpPr>
        <p:spPr>
          <a:xfrm>
            <a:off x="6620955" y="5684068"/>
            <a:ext cx="735084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" name="図 1" descr="屋内, 座る, テーブル, ボウル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F09A994C-FE73-1C6C-14AE-3A390246DB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5928" y="3584705"/>
            <a:ext cx="1066800" cy="1066800"/>
          </a:xfrm>
          <a:prstGeom prst="rect">
            <a:avLst/>
          </a:prstGeom>
        </p:spPr>
      </p:pic>
      <p:cxnSp>
        <p:nvCxnSpPr>
          <p:cNvPr id="6" name="直線矢印コネクタ 5">
            <a:extLst>
              <a:ext uri="{FF2B5EF4-FFF2-40B4-BE49-F238E27FC236}">
                <a16:creationId xmlns:a16="http://schemas.microsoft.com/office/drawing/2014/main" id="{7742B145-C7A3-5B93-219C-9B325E40D09A}"/>
              </a:ext>
            </a:extLst>
          </p:cNvPr>
          <p:cNvCxnSpPr>
            <a:cxnSpLocks/>
          </p:cNvCxnSpPr>
          <p:nvPr/>
        </p:nvCxnSpPr>
        <p:spPr>
          <a:xfrm flipV="1">
            <a:off x="8372966" y="1690924"/>
            <a:ext cx="0" cy="3599464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652E9E7F-5E98-EBDB-942C-ED8144F2878C}"/>
              </a:ext>
            </a:extLst>
          </p:cNvPr>
          <p:cNvSpPr txBox="1"/>
          <p:nvPr/>
        </p:nvSpPr>
        <p:spPr>
          <a:xfrm>
            <a:off x="7293196" y="5280193"/>
            <a:ext cx="2155454" cy="830997"/>
          </a:xfrm>
          <a:prstGeom prst="rect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kumimoji="1" lang="en-US" altLang="ja-JP" sz="2400" dirty="0">
                <a:latin typeface="Arial" panose="020B0604020202020204" pitchFamily="34" charset="0"/>
                <a:cs typeface="Arial" panose="020B0604020202020204" pitchFamily="34" charset="0"/>
              </a:rPr>
              <a:t>Uncertainty </a:t>
            </a:r>
          </a:p>
          <a:p>
            <a:pPr algn="ctr"/>
            <a:r>
              <a:rPr kumimoji="1" lang="en-US" altLang="ja-JP" sz="2400" dirty="0">
                <a:latin typeface="Arial" panose="020B0604020202020204" pitchFamily="34" charset="0"/>
                <a:cs typeface="Arial" panose="020B0604020202020204" pitchFamily="34" charset="0"/>
              </a:rPr>
              <a:t>Score</a:t>
            </a:r>
            <a:endParaRPr kumimoji="1" lang="ja-JP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657CA42B-04AD-2AF8-7365-7CE038418EC7}"/>
              </a:ext>
            </a:extLst>
          </p:cNvPr>
          <p:cNvSpPr txBox="1"/>
          <p:nvPr/>
        </p:nvSpPr>
        <p:spPr>
          <a:xfrm>
            <a:off x="6840000" y="4032000"/>
            <a:ext cx="3144539" cy="461665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ja-JP" sz="2400" dirty="0">
                <a:latin typeface="Arial" panose="020B0604020202020204" pitchFamily="34" charset="0"/>
                <a:cs typeface="Arial" panose="020B0604020202020204" pitchFamily="34" charset="0"/>
              </a:rPr>
              <a:t>Difficulty Metric</a:t>
            </a:r>
            <a:endParaRPr kumimoji="1" lang="ja-JP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4BEC67F9-2F26-0C3E-17EE-B05EEB38B8E1}"/>
              </a:ext>
            </a:extLst>
          </p:cNvPr>
          <p:cNvSpPr/>
          <p:nvPr/>
        </p:nvSpPr>
        <p:spPr>
          <a:xfrm>
            <a:off x="212439" y="2550638"/>
            <a:ext cx="11767125" cy="4256917"/>
          </a:xfrm>
          <a:prstGeom prst="rect">
            <a:avLst/>
          </a:prstGeom>
          <a:noFill/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12" name="グループ化 11">
            <a:extLst>
              <a:ext uri="{FF2B5EF4-FFF2-40B4-BE49-F238E27FC236}">
                <a16:creationId xmlns:a16="http://schemas.microsoft.com/office/drawing/2014/main" id="{A3447B92-965C-C58C-AF4F-DE81E301BDB1}"/>
              </a:ext>
            </a:extLst>
          </p:cNvPr>
          <p:cNvGrpSpPr/>
          <p:nvPr/>
        </p:nvGrpSpPr>
        <p:grpSpPr>
          <a:xfrm>
            <a:off x="2625858" y="911669"/>
            <a:ext cx="1494135" cy="1060935"/>
            <a:chOff x="9097528" y="1355284"/>
            <a:chExt cx="1643861" cy="1167251"/>
          </a:xfrm>
        </p:grpSpPr>
        <p:sp>
          <p:nvSpPr>
            <p:cNvPr id="21" name="正方形/長方形 20">
              <a:extLst>
                <a:ext uri="{FF2B5EF4-FFF2-40B4-BE49-F238E27FC236}">
                  <a16:creationId xmlns:a16="http://schemas.microsoft.com/office/drawing/2014/main" id="{32E9897A-32E7-7330-247D-47DBF126E7F1}"/>
                </a:ext>
              </a:extLst>
            </p:cNvPr>
            <p:cNvSpPr/>
            <p:nvPr/>
          </p:nvSpPr>
          <p:spPr>
            <a:xfrm>
              <a:off x="9097528" y="1355284"/>
              <a:ext cx="1643861" cy="1167251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25" name="直方体 24">
              <a:extLst>
                <a:ext uri="{FF2B5EF4-FFF2-40B4-BE49-F238E27FC236}">
                  <a16:creationId xmlns:a16="http://schemas.microsoft.com/office/drawing/2014/main" id="{F824D10B-D747-B510-DB42-3B87F4DFDC17}"/>
                </a:ext>
              </a:extLst>
            </p:cNvPr>
            <p:cNvSpPr/>
            <p:nvPr/>
          </p:nvSpPr>
          <p:spPr>
            <a:xfrm>
              <a:off x="9257125" y="1476428"/>
              <a:ext cx="224506" cy="941145"/>
            </a:xfrm>
            <a:prstGeom prst="cube">
              <a:avLst>
                <a:gd name="adj" fmla="val 87111"/>
              </a:avLst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8" name="直方体 27">
              <a:extLst>
                <a:ext uri="{FF2B5EF4-FFF2-40B4-BE49-F238E27FC236}">
                  <a16:creationId xmlns:a16="http://schemas.microsoft.com/office/drawing/2014/main" id="{C1CBECE3-DA00-AE09-C4AC-51BE28D8666F}"/>
                </a:ext>
              </a:extLst>
            </p:cNvPr>
            <p:cNvSpPr/>
            <p:nvPr/>
          </p:nvSpPr>
          <p:spPr>
            <a:xfrm>
              <a:off x="9537489" y="1849556"/>
              <a:ext cx="201785" cy="568017"/>
            </a:xfrm>
            <a:prstGeom prst="cube">
              <a:avLst>
                <a:gd name="adj" fmla="val 61044"/>
              </a:avLst>
            </a:prstGeom>
            <a:pattFill prst="wdDnDiag">
              <a:fgClr>
                <a:srgbClr val="F4B183"/>
              </a:fgClr>
              <a:bgClr>
                <a:schemeClr val="bg1"/>
              </a:bgClr>
            </a:pattFill>
            <a:ln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0" name="直方体 29">
              <a:extLst>
                <a:ext uri="{FF2B5EF4-FFF2-40B4-BE49-F238E27FC236}">
                  <a16:creationId xmlns:a16="http://schemas.microsoft.com/office/drawing/2014/main" id="{2149A610-F368-8E5D-4290-DB412A335DA0}"/>
                </a:ext>
              </a:extLst>
            </p:cNvPr>
            <p:cNvSpPr/>
            <p:nvPr/>
          </p:nvSpPr>
          <p:spPr>
            <a:xfrm>
              <a:off x="10117374" y="1858218"/>
              <a:ext cx="201785" cy="568017"/>
            </a:xfrm>
            <a:prstGeom prst="cube">
              <a:avLst>
                <a:gd name="adj" fmla="val 61044"/>
              </a:avLst>
            </a:prstGeom>
            <a:solidFill>
              <a:schemeClr val="accent1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3" name="直方体 32">
              <a:extLst>
                <a:ext uri="{FF2B5EF4-FFF2-40B4-BE49-F238E27FC236}">
                  <a16:creationId xmlns:a16="http://schemas.microsoft.com/office/drawing/2014/main" id="{4B2D20FC-D7B3-1E74-E868-5E21335BC496}"/>
                </a:ext>
              </a:extLst>
            </p:cNvPr>
            <p:cNvSpPr/>
            <p:nvPr/>
          </p:nvSpPr>
          <p:spPr>
            <a:xfrm>
              <a:off x="10375017" y="1485090"/>
              <a:ext cx="224506" cy="941145"/>
            </a:xfrm>
            <a:prstGeom prst="cube">
              <a:avLst>
                <a:gd name="adj" fmla="val 87111"/>
              </a:avLst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7" name="直方体 36">
              <a:extLst>
                <a:ext uri="{FF2B5EF4-FFF2-40B4-BE49-F238E27FC236}">
                  <a16:creationId xmlns:a16="http://schemas.microsoft.com/office/drawing/2014/main" id="{734C61CD-C19E-AA95-343A-04BDA8E1361F}"/>
                </a:ext>
              </a:extLst>
            </p:cNvPr>
            <p:cNvSpPr/>
            <p:nvPr/>
          </p:nvSpPr>
          <p:spPr>
            <a:xfrm>
              <a:off x="9795132" y="2275350"/>
              <a:ext cx="105263" cy="147577"/>
            </a:xfrm>
            <a:prstGeom prst="cube">
              <a:avLst>
                <a:gd name="adj" fmla="val 29431"/>
              </a:avLst>
            </a:prstGeom>
            <a:solidFill>
              <a:srgbClr val="F7A1A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8" name="直方体 37">
              <a:extLst>
                <a:ext uri="{FF2B5EF4-FFF2-40B4-BE49-F238E27FC236}">
                  <a16:creationId xmlns:a16="http://schemas.microsoft.com/office/drawing/2014/main" id="{0BE0D47A-65BC-7DF3-85EA-6FDB2A6B7C19}"/>
                </a:ext>
              </a:extLst>
            </p:cNvPr>
            <p:cNvSpPr/>
            <p:nvPr/>
          </p:nvSpPr>
          <p:spPr>
            <a:xfrm>
              <a:off x="9956253" y="2276188"/>
              <a:ext cx="105263" cy="147577"/>
            </a:xfrm>
            <a:prstGeom prst="cube">
              <a:avLst>
                <a:gd name="adj" fmla="val 29431"/>
              </a:avLst>
            </a:prstGeom>
            <a:solidFill>
              <a:srgbClr val="F7A1A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</p:grpSp>
      <p:sp>
        <p:nvSpPr>
          <p:cNvPr id="47" name="テキスト ボックス 46">
            <a:extLst>
              <a:ext uri="{FF2B5EF4-FFF2-40B4-BE49-F238E27FC236}">
                <a16:creationId xmlns:a16="http://schemas.microsoft.com/office/drawing/2014/main" id="{7D339DCD-4A6F-65D0-4820-3A79AF173751}"/>
              </a:ext>
            </a:extLst>
          </p:cNvPr>
          <p:cNvSpPr txBox="1"/>
          <p:nvPr/>
        </p:nvSpPr>
        <p:spPr>
          <a:xfrm>
            <a:off x="9302085" y="4440650"/>
            <a:ext cx="22042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ja-JP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Aggregation</a:t>
            </a:r>
            <a:endParaRPr kumimoji="0" lang="ja-JP" altLang="ja-JP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テキスト ボックス 50">
                <a:extLst>
                  <a:ext uri="{FF2B5EF4-FFF2-40B4-BE49-F238E27FC236}">
                    <a16:creationId xmlns:a16="http://schemas.microsoft.com/office/drawing/2014/main" id="{823782E8-D8AA-3E9E-EF5C-5D057906C3D3}"/>
                  </a:ext>
                </a:extLst>
              </p:cNvPr>
              <p:cNvSpPr txBox="1"/>
              <p:nvPr/>
            </p:nvSpPr>
            <p:spPr>
              <a:xfrm>
                <a:off x="6543863" y="1925369"/>
                <a:ext cx="185845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0" lang="en-US" altLang="ja-JP" sz="2400" i="0" u="none" strike="noStrike" cap="none" normalizeH="0" baseline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latin typeface="Arial Unicode MS"/>
                  </a:rPr>
                  <a:t>Adaptive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ja-JP" sz="2400" b="0" i="1" u="none" strike="noStrike" cap="none" normalizeH="0" baseline="0" smtClean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kumimoji="0" lang="en-US" altLang="ja-JP" sz="2400" b="0" i="1" u="none" strike="noStrike" cap="none" normalizeH="0" baseline="0" smtClean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ϵ</m:t>
                        </m:r>
                      </m:e>
                      <m:sub>
                        <m:r>
                          <a:rPr kumimoji="0" lang="en-US" altLang="ja-JP" sz="2400" b="0" i="1" u="none" strike="noStrike" cap="none" normalizeH="0" baseline="0" smtClean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kumimoji="0" lang="ja-JP" altLang="ja-JP" sz="2400" i="0" u="none" strike="noStrike" cap="none" normalizeH="0" baseline="0" dirty="0">
                  <a:ln>
                    <a:noFill/>
                  </a:ln>
                  <a:solidFill>
                    <a:srgbClr val="FF0000"/>
                  </a:solidFill>
                  <a:effectLst/>
                </a:endParaRPr>
              </a:p>
            </p:txBody>
          </p:sp>
        </mc:Choice>
        <mc:Fallback xmlns="">
          <p:sp>
            <p:nvSpPr>
              <p:cNvPr id="51" name="テキスト ボックス 50">
                <a:extLst>
                  <a:ext uri="{FF2B5EF4-FFF2-40B4-BE49-F238E27FC236}">
                    <a16:creationId xmlns:a16="http://schemas.microsoft.com/office/drawing/2014/main" id="{823782E8-D8AA-3E9E-EF5C-5D057906C3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43863" y="1925369"/>
                <a:ext cx="1858458" cy="461665"/>
              </a:xfrm>
              <a:prstGeom prst="rect">
                <a:avLst/>
              </a:prstGeom>
              <a:blipFill>
                <a:blip r:embed="rId6"/>
                <a:stretch>
                  <a:fillRect l="-4918" t="-11842" b="-27632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4" name="フローチャート: 端子 53">
            <a:extLst>
              <a:ext uri="{FF2B5EF4-FFF2-40B4-BE49-F238E27FC236}">
                <a16:creationId xmlns:a16="http://schemas.microsoft.com/office/drawing/2014/main" id="{5C9F8983-B3E4-F1C6-9E7D-018A2B65CA57}"/>
              </a:ext>
            </a:extLst>
          </p:cNvPr>
          <p:cNvSpPr/>
          <p:nvPr/>
        </p:nvSpPr>
        <p:spPr>
          <a:xfrm>
            <a:off x="6840000" y="2722294"/>
            <a:ext cx="3144535" cy="703605"/>
          </a:xfrm>
          <a:prstGeom prst="flowChartTerminator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2400" dirty="0">
                <a:latin typeface="Arial" panose="020B0604020202020204" pitchFamily="34" charset="0"/>
                <a:cs typeface="Arial" panose="020B0604020202020204" pitchFamily="34" charset="0"/>
              </a:rPr>
              <a:t>Control Function</a:t>
            </a:r>
            <a:endParaRPr kumimoji="1" lang="ja-JP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テキスト ボックス 63">
                <a:extLst>
                  <a:ext uri="{FF2B5EF4-FFF2-40B4-BE49-F238E27FC236}">
                    <a16:creationId xmlns:a16="http://schemas.microsoft.com/office/drawing/2014/main" id="{A33BEFCA-BC6D-6A45-0AA7-53B066A6E26A}"/>
                  </a:ext>
                </a:extLst>
              </p:cNvPr>
              <p:cNvSpPr txBox="1"/>
              <p:nvPr/>
            </p:nvSpPr>
            <p:spPr>
              <a:xfrm>
                <a:off x="270429" y="4651505"/>
                <a:ext cx="226794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0" lang="en-US" altLang="ja-JP" sz="2400" dirty="0">
                    <a:latin typeface="Arial Unicode MS"/>
                  </a:rPr>
                  <a:t>Input Image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ja-JP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en-US" altLang="ja-JP" sz="2400" b="1" i="1"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b>
                        <m:r>
                          <a:rPr kumimoji="0" lang="en-US" altLang="ja-JP" sz="24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kumimoji="0" lang="ja-JP" altLang="ja-JP" sz="2400" dirty="0"/>
              </a:p>
            </p:txBody>
          </p:sp>
        </mc:Choice>
        <mc:Fallback xmlns="">
          <p:sp>
            <p:nvSpPr>
              <p:cNvPr id="64" name="テキスト ボックス 63">
                <a:extLst>
                  <a:ext uri="{FF2B5EF4-FFF2-40B4-BE49-F238E27FC236}">
                    <a16:creationId xmlns:a16="http://schemas.microsoft.com/office/drawing/2014/main" id="{A33BEFCA-BC6D-6A45-0AA7-53B066A6E2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0429" y="4651505"/>
                <a:ext cx="2267945" cy="461665"/>
              </a:xfrm>
              <a:prstGeom prst="rect">
                <a:avLst/>
              </a:prstGeom>
              <a:blipFill>
                <a:blip r:embed="rId7"/>
                <a:stretch>
                  <a:fillRect l="-4032" t="-11842" b="-27632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テキスト ボックス 64">
                <a:extLst>
                  <a:ext uri="{FF2B5EF4-FFF2-40B4-BE49-F238E27FC236}">
                    <a16:creationId xmlns:a16="http://schemas.microsoft.com/office/drawing/2014/main" id="{4A47FA3A-F822-7B70-A420-622E549E02E4}"/>
                  </a:ext>
                </a:extLst>
              </p:cNvPr>
              <p:cNvSpPr txBox="1"/>
              <p:nvPr/>
            </p:nvSpPr>
            <p:spPr>
              <a:xfrm>
                <a:off x="224713" y="1971282"/>
                <a:ext cx="265407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0" lang="en-US" altLang="ja-JP" sz="240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 Unicode MS"/>
                  </a:rPr>
                  <a:t>Input Image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ja-JP" sz="2400" b="0" i="1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en-US" altLang="ja-JP" sz="2400" b="1" i="1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b>
                        <m:r>
                          <a:rPr kumimoji="0" lang="en-US" altLang="ja-JP" sz="2400" b="0" i="1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kumimoji="0" lang="ja-JP" altLang="ja-JP" sz="240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</a:endParaRPr>
              </a:p>
            </p:txBody>
          </p:sp>
        </mc:Choice>
        <mc:Fallback xmlns="">
          <p:sp>
            <p:nvSpPr>
              <p:cNvPr id="65" name="テキスト ボックス 64">
                <a:extLst>
                  <a:ext uri="{FF2B5EF4-FFF2-40B4-BE49-F238E27FC236}">
                    <a16:creationId xmlns:a16="http://schemas.microsoft.com/office/drawing/2014/main" id="{4A47FA3A-F822-7B70-A420-622E549E02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713" y="1971282"/>
                <a:ext cx="2654071" cy="461665"/>
              </a:xfrm>
              <a:prstGeom prst="rect">
                <a:avLst/>
              </a:prstGeom>
              <a:blipFill>
                <a:blip r:embed="rId8"/>
                <a:stretch>
                  <a:fillRect l="-3678" t="-11842" b="-27632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テキスト ボックス 72">
                <a:extLst>
                  <a:ext uri="{FF2B5EF4-FFF2-40B4-BE49-F238E27FC236}">
                    <a16:creationId xmlns:a16="http://schemas.microsoft.com/office/drawing/2014/main" id="{3D7765F3-1FA7-61BF-0C44-C9D76D773D4D}"/>
                  </a:ext>
                </a:extLst>
              </p:cNvPr>
              <p:cNvSpPr txBox="1"/>
              <p:nvPr/>
            </p:nvSpPr>
            <p:spPr>
              <a:xfrm>
                <a:off x="4371566" y="2018706"/>
                <a:ext cx="2043145" cy="4715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0" lang="en-US" altLang="ja-JP" sz="240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 Unicode MS"/>
                  </a:rPr>
                  <a:t>Prediction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ja-JP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kumimoji="0" lang="en-US" altLang="ja-JP" sz="2400" b="1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kumimoji="0" lang="en-US" altLang="ja-JP" sz="2400" b="1" i="1" smtClean="0">
                                <a:latin typeface="Cambria Math" panose="02040503050406030204" pitchFamily="18" charset="0"/>
                              </a:rPr>
                              <m:t>𝒀</m:t>
                            </m:r>
                          </m:e>
                        </m:acc>
                      </m:e>
                      <m:sub>
                        <m:r>
                          <a:rPr kumimoji="0" lang="en-US" altLang="ja-JP" sz="24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kumimoji="0" lang="ja-JP" altLang="ja-JP" sz="240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</a:endParaRPr>
              </a:p>
            </p:txBody>
          </p:sp>
        </mc:Choice>
        <mc:Fallback xmlns="">
          <p:sp>
            <p:nvSpPr>
              <p:cNvPr id="73" name="テキスト ボックス 72">
                <a:extLst>
                  <a:ext uri="{FF2B5EF4-FFF2-40B4-BE49-F238E27FC236}">
                    <a16:creationId xmlns:a16="http://schemas.microsoft.com/office/drawing/2014/main" id="{3D7765F3-1FA7-61BF-0C44-C9D76D773D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71566" y="2018706"/>
                <a:ext cx="2043145" cy="471539"/>
              </a:xfrm>
              <a:prstGeom prst="rect">
                <a:avLst/>
              </a:prstGeom>
              <a:blipFill>
                <a:blip r:embed="rId9"/>
                <a:stretch>
                  <a:fillRect l="-4478" t="-10256" r="-13433" b="-2564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6" name="テキスト ボックス 75">
            <a:extLst>
              <a:ext uri="{FF2B5EF4-FFF2-40B4-BE49-F238E27FC236}">
                <a16:creationId xmlns:a16="http://schemas.microsoft.com/office/drawing/2014/main" id="{1D3FBB75-E4E5-3C68-046D-E60C86E98F04}"/>
              </a:ext>
            </a:extLst>
          </p:cNvPr>
          <p:cNvSpPr txBox="1"/>
          <p:nvPr/>
        </p:nvSpPr>
        <p:spPr>
          <a:xfrm>
            <a:off x="7340157" y="859927"/>
            <a:ext cx="2130670" cy="830997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ja-JP" sz="2400" dirty="0">
                <a:latin typeface="Arial" panose="020B0604020202020204" pitchFamily="34" charset="0"/>
                <a:cs typeface="Arial" panose="020B0604020202020204" pitchFamily="34" charset="0"/>
              </a:rPr>
              <a:t>PolyDice-1</a:t>
            </a:r>
          </a:p>
          <a:p>
            <a:pPr algn="ctr"/>
            <a:r>
              <a:rPr kumimoji="1" lang="en-US" altLang="ja-JP" sz="2400" dirty="0">
                <a:latin typeface="Arial" panose="020B0604020202020204" pitchFamily="34" charset="0"/>
                <a:cs typeface="Arial" panose="020B0604020202020204" pitchFamily="34" charset="0"/>
              </a:rPr>
              <a:t>Loss</a:t>
            </a:r>
            <a:endParaRPr kumimoji="1" lang="ja-JP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7" name="矢印: 右 76">
            <a:extLst>
              <a:ext uri="{FF2B5EF4-FFF2-40B4-BE49-F238E27FC236}">
                <a16:creationId xmlns:a16="http://schemas.microsoft.com/office/drawing/2014/main" id="{E5D2150A-C795-EBAE-1267-4FFA5944E93E}"/>
              </a:ext>
            </a:extLst>
          </p:cNvPr>
          <p:cNvSpPr/>
          <p:nvPr/>
        </p:nvSpPr>
        <p:spPr>
          <a:xfrm rot="10800000">
            <a:off x="9470826" y="1053541"/>
            <a:ext cx="601540" cy="626322"/>
          </a:xfrm>
          <a:prstGeom prst="rightArrow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79" name="図 78" descr="ロゴ&#10;&#10;AI 生成コンテンツは誤りを含む可能性があります。">
            <a:extLst>
              <a:ext uri="{FF2B5EF4-FFF2-40B4-BE49-F238E27FC236}">
                <a16:creationId xmlns:a16="http://schemas.microsoft.com/office/drawing/2014/main" id="{53BED8B4-B2DC-99CF-7E78-7ABCA8E889C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2366" y="842850"/>
            <a:ext cx="1066800" cy="10668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1" name="テキスト ボックス 80">
                <a:extLst>
                  <a:ext uri="{FF2B5EF4-FFF2-40B4-BE49-F238E27FC236}">
                    <a16:creationId xmlns:a16="http://schemas.microsoft.com/office/drawing/2014/main" id="{2D32408A-9A69-48EF-9E56-90E31F457239}"/>
                  </a:ext>
                </a:extLst>
              </p:cNvPr>
              <p:cNvSpPr txBox="1"/>
              <p:nvPr/>
            </p:nvSpPr>
            <p:spPr>
              <a:xfrm>
                <a:off x="9558527" y="1985216"/>
                <a:ext cx="245678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0" lang="en-US" altLang="ja-JP" sz="240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 Unicode MS"/>
                  </a:rPr>
                  <a:t>Ground Truth</a:t>
                </a:r>
                <a:r>
                  <a:rPr kumimoji="0" lang="en-US" altLang="ja-JP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ja-JP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en-US" altLang="ja-JP" sz="2400" b="1" i="1" smtClean="0">
                            <a:latin typeface="Cambria Math" panose="02040503050406030204" pitchFamily="18" charset="0"/>
                          </a:rPr>
                          <m:t>𝒀</m:t>
                        </m:r>
                      </m:e>
                      <m:sub>
                        <m:r>
                          <a:rPr kumimoji="0" lang="en-US" altLang="ja-JP" sz="24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kumimoji="0" lang="ja-JP" altLang="ja-JP" sz="240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</a:endParaRPr>
              </a:p>
            </p:txBody>
          </p:sp>
        </mc:Choice>
        <mc:Fallback xmlns="">
          <p:sp>
            <p:nvSpPr>
              <p:cNvPr id="81" name="テキスト ボックス 80">
                <a:extLst>
                  <a:ext uri="{FF2B5EF4-FFF2-40B4-BE49-F238E27FC236}">
                    <a16:creationId xmlns:a16="http://schemas.microsoft.com/office/drawing/2014/main" id="{2D32408A-9A69-48EF-9E56-90E31F4572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58527" y="1985216"/>
                <a:ext cx="2456783" cy="461665"/>
              </a:xfrm>
              <a:prstGeom prst="rect">
                <a:avLst/>
              </a:prstGeom>
              <a:blipFill>
                <a:blip r:embed="rId11"/>
                <a:stretch>
                  <a:fillRect l="-3722" t="-12000" b="-2933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2" name="矢印: 右 81">
            <a:extLst>
              <a:ext uri="{FF2B5EF4-FFF2-40B4-BE49-F238E27FC236}">
                <a16:creationId xmlns:a16="http://schemas.microsoft.com/office/drawing/2014/main" id="{3ADFBFEA-0829-94A8-4F6B-F5010DB0754A}"/>
              </a:ext>
            </a:extLst>
          </p:cNvPr>
          <p:cNvSpPr/>
          <p:nvPr/>
        </p:nvSpPr>
        <p:spPr>
          <a:xfrm rot="10800000" flipH="1">
            <a:off x="5926539" y="1030304"/>
            <a:ext cx="1388833" cy="626322"/>
          </a:xfrm>
          <a:prstGeom prst="rightArrow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3" name="テキスト ボックス 82">
            <a:extLst>
              <a:ext uri="{FF2B5EF4-FFF2-40B4-BE49-F238E27FC236}">
                <a16:creationId xmlns:a16="http://schemas.microsoft.com/office/drawing/2014/main" id="{FB775385-09E2-EF81-5658-877E63621533}"/>
              </a:ext>
            </a:extLst>
          </p:cNvPr>
          <p:cNvSpPr txBox="1"/>
          <p:nvPr/>
        </p:nvSpPr>
        <p:spPr>
          <a:xfrm>
            <a:off x="3200602" y="70202"/>
            <a:ext cx="51723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ja-JP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Update weights via backprop</a:t>
            </a:r>
            <a:endParaRPr kumimoji="0" lang="ja-JP" altLang="ja-JP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cxnSp>
        <p:nvCxnSpPr>
          <p:cNvPr id="90" name="直線矢印コネクタ 89">
            <a:extLst>
              <a:ext uri="{FF2B5EF4-FFF2-40B4-BE49-F238E27FC236}">
                <a16:creationId xmlns:a16="http://schemas.microsoft.com/office/drawing/2014/main" id="{A4098CA6-53F5-0B17-7E11-D03844BFB6E2}"/>
              </a:ext>
            </a:extLst>
          </p:cNvPr>
          <p:cNvCxnSpPr>
            <a:cxnSpLocks/>
          </p:cNvCxnSpPr>
          <p:nvPr/>
        </p:nvCxnSpPr>
        <p:spPr>
          <a:xfrm>
            <a:off x="3351914" y="538843"/>
            <a:ext cx="0" cy="369217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直線コネクタ 93">
            <a:extLst>
              <a:ext uri="{FF2B5EF4-FFF2-40B4-BE49-F238E27FC236}">
                <a16:creationId xmlns:a16="http://schemas.microsoft.com/office/drawing/2014/main" id="{25564A6A-8E2A-BDFA-1FC0-C76B696AB227}"/>
              </a:ext>
            </a:extLst>
          </p:cNvPr>
          <p:cNvCxnSpPr>
            <a:cxnSpLocks/>
          </p:cNvCxnSpPr>
          <p:nvPr/>
        </p:nvCxnSpPr>
        <p:spPr>
          <a:xfrm>
            <a:off x="3350716" y="538843"/>
            <a:ext cx="4534160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直線コネクタ 95">
            <a:extLst>
              <a:ext uri="{FF2B5EF4-FFF2-40B4-BE49-F238E27FC236}">
                <a16:creationId xmlns:a16="http://schemas.microsoft.com/office/drawing/2014/main" id="{8AF06DD9-95DF-046C-CDEC-448457C1FE3A}"/>
              </a:ext>
            </a:extLst>
          </p:cNvPr>
          <p:cNvCxnSpPr>
            <a:cxnSpLocks/>
          </p:cNvCxnSpPr>
          <p:nvPr/>
        </p:nvCxnSpPr>
        <p:spPr>
          <a:xfrm flipV="1">
            <a:off x="7844178" y="538843"/>
            <a:ext cx="0" cy="321084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" name="テキスト ボックス 98">
            <a:extLst>
              <a:ext uri="{FF2B5EF4-FFF2-40B4-BE49-F238E27FC236}">
                <a16:creationId xmlns:a16="http://schemas.microsoft.com/office/drawing/2014/main" id="{04FC5E26-3145-88C4-6F7B-144E08755836}"/>
              </a:ext>
            </a:extLst>
          </p:cNvPr>
          <p:cNvSpPr txBox="1"/>
          <p:nvPr/>
        </p:nvSpPr>
        <p:spPr>
          <a:xfrm>
            <a:off x="2280186" y="4638050"/>
            <a:ext cx="242189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ja-JP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Segmentation</a:t>
            </a:r>
          </a:p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ja-JP" sz="2400" dirty="0">
                <a:latin typeface="Arial" panose="020B0604020202020204" pitchFamily="34" charset="0"/>
                <a:cs typeface="Arial" panose="020B0604020202020204" pitchFamily="34" charset="0"/>
              </a:rPr>
              <a:t>model</a:t>
            </a:r>
            <a:endParaRPr kumimoji="0" lang="ja-JP" altLang="ja-JP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4" name="テキスト ボックス 113">
                <a:extLst>
                  <a:ext uri="{FF2B5EF4-FFF2-40B4-BE49-F238E27FC236}">
                    <a16:creationId xmlns:a16="http://schemas.microsoft.com/office/drawing/2014/main" id="{041FABE8-43F9-B5BD-6965-B4E7B104F793}"/>
                  </a:ext>
                </a:extLst>
              </p:cNvPr>
              <p:cNvSpPr txBox="1"/>
              <p:nvPr/>
            </p:nvSpPr>
            <p:spPr>
              <a:xfrm>
                <a:off x="246037" y="5846852"/>
                <a:ext cx="3648328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0" lang="en-US" altLang="ja-JP" sz="2400" b="1" i="0" u="none" strike="noStrike" cap="none" normalizeH="0" baseline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latin typeface="Arial Unicode MS"/>
                  </a:rPr>
                  <a:t>Adaptive Control phase</a:t>
                </a:r>
              </a:p>
              <a:p>
                <a:pPr lvl="0"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0" lang="en-US" altLang="ja-JP" sz="2400" b="1" i="0" u="none" strike="noStrike" cap="none" normalizeH="0" baseline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latin typeface="Arial Unicode MS"/>
                  </a:rPr>
                  <a:t>(Every </a:t>
                </a:r>
                <a14:m>
                  <m:oMath xmlns:m="http://schemas.openxmlformats.org/officeDocument/2006/math">
                    <m:r>
                      <a:rPr kumimoji="0" lang="en-US" altLang="ja-JP" sz="2400" b="1" i="1" u="none" strike="noStrike" cap="none" normalizeH="0" baseline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</a:rPr>
                      <m:t>𝝉</m:t>
                    </m:r>
                  </m:oMath>
                </a14:m>
                <a:r>
                  <a:rPr kumimoji="0" lang="en-US" altLang="ja-JP" sz="2400" b="1" i="0" u="none" strike="noStrike" cap="none" normalizeH="0" baseline="0" dirty="0">
                    <a:ln>
                      <a:noFill/>
                    </a:ln>
                    <a:solidFill>
                      <a:srgbClr val="FF0000"/>
                    </a:solidFill>
                    <a:effectLst/>
                  </a:rPr>
                  <a:t> </a:t>
                </a:r>
                <a:r>
                  <a:rPr kumimoji="0" lang="en-US" altLang="ja-JP" sz="2400" b="1" i="0" u="none" strike="noStrike" cap="none" normalizeH="0" baseline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epoch)</a:t>
                </a:r>
                <a:endParaRPr kumimoji="0" lang="ja-JP" altLang="ja-JP" sz="2400" b="1" i="0" u="none" strike="noStrike" cap="none" normalizeH="0" baseline="0" dirty="0">
                  <a:ln>
                    <a:noFill/>
                  </a:ln>
                  <a:solidFill>
                    <a:srgbClr val="FF0000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14" name="テキスト ボックス 113">
                <a:extLst>
                  <a:ext uri="{FF2B5EF4-FFF2-40B4-BE49-F238E27FC236}">
                    <a16:creationId xmlns:a16="http://schemas.microsoft.com/office/drawing/2014/main" id="{041FABE8-43F9-B5BD-6965-B4E7B104F7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6037" y="5846852"/>
                <a:ext cx="3648328" cy="830997"/>
              </a:xfrm>
              <a:prstGeom prst="rect">
                <a:avLst/>
              </a:prstGeom>
              <a:blipFill>
                <a:blip r:embed="rId12"/>
                <a:stretch>
                  <a:fillRect l="-2504" t="-5147" r="-1336" b="-1544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20" name="グループ化 119">
            <a:extLst>
              <a:ext uri="{FF2B5EF4-FFF2-40B4-BE49-F238E27FC236}">
                <a16:creationId xmlns:a16="http://schemas.microsoft.com/office/drawing/2014/main" id="{F1CFB424-EF78-B217-2A0C-CB7EE7EEE453}"/>
              </a:ext>
            </a:extLst>
          </p:cNvPr>
          <p:cNvGrpSpPr/>
          <p:nvPr/>
        </p:nvGrpSpPr>
        <p:grpSpPr>
          <a:xfrm>
            <a:off x="2620976" y="3584705"/>
            <a:ext cx="1494135" cy="1060935"/>
            <a:chOff x="9097528" y="1355284"/>
            <a:chExt cx="1643861" cy="1167251"/>
          </a:xfrm>
        </p:grpSpPr>
        <p:sp>
          <p:nvSpPr>
            <p:cNvPr id="121" name="正方形/長方形 120">
              <a:extLst>
                <a:ext uri="{FF2B5EF4-FFF2-40B4-BE49-F238E27FC236}">
                  <a16:creationId xmlns:a16="http://schemas.microsoft.com/office/drawing/2014/main" id="{8BA0F921-1C5B-60C8-E475-A7A988610380}"/>
                </a:ext>
              </a:extLst>
            </p:cNvPr>
            <p:cNvSpPr/>
            <p:nvPr/>
          </p:nvSpPr>
          <p:spPr>
            <a:xfrm>
              <a:off x="9097528" y="1355284"/>
              <a:ext cx="1643861" cy="1167251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122" name="直方体 121">
              <a:extLst>
                <a:ext uri="{FF2B5EF4-FFF2-40B4-BE49-F238E27FC236}">
                  <a16:creationId xmlns:a16="http://schemas.microsoft.com/office/drawing/2014/main" id="{94042F46-FB76-9095-B0E0-5632D0ED31D7}"/>
                </a:ext>
              </a:extLst>
            </p:cNvPr>
            <p:cNvSpPr/>
            <p:nvPr/>
          </p:nvSpPr>
          <p:spPr>
            <a:xfrm>
              <a:off x="9257125" y="1476428"/>
              <a:ext cx="224506" cy="941145"/>
            </a:xfrm>
            <a:prstGeom prst="cube">
              <a:avLst>
                <a:gd name="adj" fmla="val 87111"/>
              </a:avLst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23" name="直方体 122">
              <a:extLst>
                <a:ext uri="{FF2B5EF4-FFF2-40B4-BE49-F238E27FC236}">
                  <a16:creationId xmlns:a16="http://schemas.microsoft.com/office/drawing/2014/main" id="{C2D110D2-1EA7-B717-A5E8-04953E1EF067}"/>
                </a:ext>
              </a:extLst>
            </p:cNvPr>
            <p:cNvSpPr/>
            <p:nvPr/>
          </p:nvSpPr>
          <p:spPr>
            <a:xfrm>
              <a:off x="9537489" y="1849556"/>
              <a:ext cx="201785" cy="568017"/>
            </a:xfrm>
            <a:prstGeom prst="cube">
              <a:avLst>
                <a:gd name="adj" fmla="val 61044"/>
              </a:avLst>
            </a:prstGeom>
            <a:pattFill prst="wdDnDiag">
              <a:fgClr>
                <a:srgbClr val="F4B183"/>
              </a:fgClr>
              <a:bgClr>
                <a:schemeClr val="bg1"/>
              </a:bgClr>
            </a:pattFill>
            <a:ln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24" name="直方体 123">
              <a:extLst>
                <a:ext uri="{FF2B5EF4-FFF2-40B4-BE49-F238E27FC236}">
                  <a16:creationId xmlns:a16="http://schemas.microsoft.com/office/drawing/2014/main" id="{AD644F83-6AFC-B720-81CF-2D84CAD50785}"/>
                </a:ext>
              </a:extLst>
            </p:cNvPr>
            <p:cNvSpPr/>
            <p:nvPr/>
          </p:nvSpPr>
          <p:spPr>
            <a:xfrm>
              <a:off x="10117374" y="1858218"/>
              <a:ext cx="201785" cy="568017"/>
            </a:xfrm>
            <a:prstGeom prst="cube">
              <a:avLst>
                <a:gd name="adj" fmla="val 61044"/>
              </a:avLst>
            </a:prstGeom>
            <a:solidFill>
              <a:schemeClr val="accent1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25" name="直方体 124">
              <a:extLst>
                <a:ext uri="{FF2B5EF4-FFF2-40B4-BE49-F238E27FC236}">
                  <a16:creationId xmlns:a16="http://schemas.microsoft.com/office/drawing/2014/main" id="{12104AE8-ECEE-77CC-8F70-4416A8FD4432}"/>
                </a:ext>
              </a:extLst>
            </p:cNvPr>
            <p:cNvSpPr/>
            <p:nvPr/>
          </p:nvSpPr>
          <p:spPr>
            <a:xfrm>
              <a:off x="10375017" y="1485090"/>
              <a:ext cx="224506" cy="941145"/>
            </a:xfrm>
            <a:prstGeom prst="cube">
              <a:avLst>
                <a:gd name="adj" fmla="val 87111"/>
              </a:avLst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26" name="直方体 125">
              <a:extLst>
                <a:ext uri="{FF2B5EF4-FFF2-40B4-BE49-F238E27FC236}">
                  <a16:creationId xmlns:a16="http://schemas.microsoft.com/office/drawing/2014/main" id="{83E9A7FB-2588-1814-CBF1-B17597371BED}"/>
                </a:ext>
              </a:extLst>
            </p:cNvPr>
            <p:cNvSpPr/>
            <p:nvPr/>
          </p:nvSpPr>
          <p:spPr>
            <a:xfrm>
              <a:off x="9795132" y="2275350"/>
              <a:ext cx="105263" cy="147577"/>
            </a:xfrm>
            <a:prstGeom prst="cube">
              <a:avLst>
                <a:gd name="adj" fmla="val 29431"/>
              </a:avLst>
            </a:prstGeom>
            <a:solidFill>
              <a:srgbClr val="F7A1A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27" name="直方体 126">
              <a:extLst>
                <a:ext uri="{FF2B5EF4-FFF2-40B4-BE49-F238E27FC236}">
                  <a16:creationId xmlns:a16="http://schemas.microsoft.com/office/drawing/2014/main" id="{470DA609-1147-6394-CCC3-227C3EBC90D4}"/>
                </a:ext>
              </a:extLst>
            </p:cNvPr>
            <p:cNvSpPr/>
            <p:nvPr/>
          </p:nvSpPr>
          <p:spPr>
            <a:xfrm>
              <a:off x="9956253" y="2276188"/>
              <a:ext cx="105263" cy="147577"/>
            </a:xfrm>
            <a:prstGeom prst="cube">
              <a:avLst>
                <a:gd name="adj" fmla="val 29431"/>
              </a:avLst>
            </a:prstGeom>
            <a:solidFill>
              <a:srgbClr val="F7A1A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</p:grpSp>
      <p:cxnSp>
        <p:nvCxnSpPr>
          <p:cNvPr id="140" name="直線矢印コネクタ 139">
            <a:extLst>
              <a:ext uri="{FF2B5EF4-FFF2-40B4-BE49-F238E27FC236}">
                <a16:creationId xmlns:a16="http://schemas.microsoft.com/office/drawing/2014/main" id="{CD76290B-F507-C922-BE79-0E3E037258F1}"/>
              </a:ext>
            </a:extLst>
          </p:cNvPr>
          <p:cNvCxnSpPr>
            <a:cxnSpLocks/>
            <a:stCxn id="21" idx="2"/>
          </p:cNvCxnSpPr>
          <p:nvPr/>
        </p:nvCxnSpPr>
        <p:spPr>
          <a:xfrm>
            <a:off x="3372926" y="1972604"/>
            <a:ext cx="0" cy="1627846"/>
          </a:xfrm>
          <a:prstGeom prst="straightConnector1">
            <a:avLst/>
          </a:prstGeom>
          <a:ln w="76200">
            <a:solidFill>
              <a:srgbClr val="00B050"/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テキスト ボックス 45">
            <a:extLst>
              <a:ext uri="{FF2B5EF4-FFF2-40B4-BE49-F238E27FC236}">
                <a16:creationId xmlns:a16="http://schemas.microsoft.com/office/drawing/2014/main" id="{A3DC69CA-57FF-496A-24A5-F42F9FA7D4E9}"/>
              </a:ext>
            </a:extLst>
          </p:cNvPr>
          <p:cNvSpPr txBox="1"/>
          <p:nvPr/>
        </p:nvSpPr>
        <p:spPr>
          <a:xfrm>
            <a:off x="2220537" y="2795053"/>
            <a:ext cx="2272566" cy="461665"/>
          </a:xfrm>
          <a:prstGeom prst="rect">
            <a:avLst/>
          </a:prstGeom>
          <a:solidFill>
            <a:schemeClr val="bg1"/>
          </a:solidFill>
          <a:ln w="38100">
            <a:solidFill>
              <a:srgbClr val="00B050"/>
            </a:solidFill>
            <a:prstDash val="solid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kumimoji="1" lang="en-US" altLang="ja-JP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Fix w</a:t>
            </a:r>
            <a:r>
              <a:rPr lang="en-US" altLang="ja-JP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eights</a:t>
            </a:r>
            <a:endParaRPr kumimoji="1" lang="ja-JP" altLang="en-US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8" name="テキスト ボックス 57">
            <a:extLst>
              <a:ext uri="{FF2B5EF4-FFF2-40B4-BE49-F238E27FC236}">
                <a16:creationId xmlns:a16="http://schemas.microsoft.com/office/drawing/2014/main" id="{6D4C93C0-DDC2-4D46-9FD4-F456C72A302B}"/>
              </a:ext>
            </a:extLst>
          </p:cNvPr>
          <p:cNvSpPr txBox="1"/>
          <p:nvPr/>
        </p:nvSpPr>
        <p:spPr>
          <a:xfrm>
            <a:off x="9315305" y="3551851"/>
            <a:ext cx="20743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ja-JP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Normalization</a:t>
            </a:r>
            <a:endParaRPr kumimoji="0" lang="ja-JP" altLang="ja-JP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9" name="テキスト ボックス 58">
                <a:extLst>
                  <a:ext uri="{FF2B5EF4-FFF2-40B4-BE49-F238E27FC236}">
                    <a16:creationId xmlns:a16="http://schemas.microsoft.com/office/drawing/2014/main" id="{A5270D4F-2563-4511-BA30-8B0EC4ACFD67}"/>
                  </a:ext>
                </a:extLst>
              </p:cNvPr>
              <p:cNvSpPr txBox="1"/>
              <p:nvPr/>
            </p:nvSpPr>
            <p:spPr>
              <a:xfrm>
                <a:off x="5310522" y="3844565"/>
                <a:ext cx="668704" cy="5361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0" lang="en-US" altLang="ja-JP" sz="2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̂"/>
                              <m:ctrlPr>
                                <a:rPr kumimoji="0" lang="en-US" altLang="ja-JP" sz="2400" b="1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kumimoji="0" lang="en-US" altLang="ja-JP" sz="2400" b="1" i="1">
                                  <a:latin typeface="Cambria Math" panose="02040503050406030204" pitchFamily="18" charset="0"/>
                                </a:rPr>
                                <m:t>𝒀</m:t>
                              </m:r>
                            </m:e>
                          </m:acc>
                        </m:e>
                        <m:sub>
                          <m:r>
                            <a:rPr kumimoji="0" lang="en-US" altLang="ja-JP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>
                          <m:d>
                            <m:dPr>
                              <m:ctrlPr>
                                <a:rPr kumimoji="0" lang="en-US" altLang="ja-JP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0" lang="en-US" altLang="ja-JP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sup>
                      </m:sSubSup>
                    </m:oMath>
                  </m:oMathPara>
                </a14:m>
                <a:endParaRPr kumimoji="0" lang="ja-JP" altLang="ja-JP" sz="2400" dirty="0"/>
              </a:p>
            </p:txBody>
          </p:sp>
        </mc:Choice>
        <mc:Fallback xmlns="">
          <p:sp>
            <p:nvSpPr>
              <p:cNvPr id="59" name="テキスト ボックス 58">
                <a:extLst>
                  <a:ext uri="{FF2B5EF4-FFF2-40B4-BE49-F238E27FC236}">
                    <a16:creationId xmlns:a16="http://schemas.microsoft.com/office/drawing/2014/main" id="{A5270D4F-2563-4511-BA30-8B0EC4ACFD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0522" y="3844565"/>
                <a:ext cx="668704" cy="536109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" name="テキスト ボックス 65">
                <a:extLst>
                  <a:ext uri="{FF2B5EF4-FFF2-40B4-BE49-F238E27FC236}">
                    <a16:creationId xmlns:a16="http://schemas.microsoft.com/office/drawing/2014/main" id="{EF39F81B-BA9D-41A0-B504-187937F663CF}"/>
                  </a:ext>
                </a:extLst>
              </p:cNvPr>
              <p:cNvSpPr txBox="1"/>
              <p:nvPr/>
            </p:nvSpPr>
            <p:spPr>
              <a:xfrm>
                <a:off x="5310522" y="5464306"/>
                <a:ext cx="668704" cy="5361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0" lang="en-US" altLang="ja-JP" sz="2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̂"/>
                              <m:ctrlPr>
                                <a:rPr kumimoji="0" lang="en-US" altLang="ja-JP" sz="2400" b="1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kumimoji="0" lang="en-US" altLang="ja-JP" sz="2400" b="1" i="1">
                                  <a:latin typeface="Cambria Math" panose="02040503050406030204" pitchFamily="18" charset="0"/>
                                </a:rPr>
                                <m:t>𝒀</m:t>
                              </m:r>
                            </m:e>
                          </m:acc>
                        </m:e>
                        <m:sub>
                          <m:r>
                            <a:rPr kumimoji="0" lang="en-US" altLang="ja-JP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>
                          <m:d>
                            <m:dPr>
                              <m:ctrlPr>
                                <a:rPr kumimoji="0" lang="en-US" altLang="ja-JP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0" lang="en-US" altLang="ja-JP" sz="24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</m:d>
                        </m:sup>
                      </m:sSubSup>
                    </m:oMath>
                  </m:oMathPara>
                </a14:m>
                <a:endParaRPr kumimoji="0" lang="ja-JP" altLang="ja-JP" sz="2400" dirty="0"/>
              </a:p>
            </p:txBody>
          </p:sp>
        </mc:Choice>
        <mc:Fallback xmlns="">
          <p:sp>
            <p:nvSpPr>
              <p:cNvPr id="66" name="テキスト ボックス 65">
                <a:extLst>
                  <a:ext uri="{FF2B5EF4-FFF2-40B4-BE49-F238E27FC236}">
                    <a16:creationId xmlns:a16="http://schemas.microsoft.com/office/drawing/2014/main" id="{EF39F81B-BA9D-41A0-B504-187937F663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0522" y="5464306"/>
                <a:ext cx="668704" cy="536109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直線コネクタ 16">
            <a:extLst>
              <a:ext uri="{FF2B5EF4-FFF2-40B4-BE49-F238E27FC236}">
                <a16:creationId xmlns:a16="http://schemas.microsoft.com/office/drawing/2014/main" id="{B6B520EE-8001-40D1-923C-EB49380342CE}"/>
              </a:ext>
            </a:extLst>
          </p:cNvPr>
          <p:cNvCxnSpPr>
            <a:cxnSpLocks/>
          </p:cNvCxnSpPr>
          <p:nvPr/>
        </p:nvCxnSpPr>
        <p:spPr>
          <a:xfrm>
            <a:off x="6653611" y="4210379"/>
            <a:ext cx="0" cy="1503403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正方形/長方形 70">
            <a:extLst>
              <a:ext uri="{FF2B5EF4-FFF2-40B4-BE49-F238E27FC236}">
                <a16:creationId xmlns:a16="http://schemas.microsoft.com/office/drawing/2014/main" id="{16D44DC1-4555-4F52-B040-EC3BF422DF81}"/>
              </a:ext>
            </a:extLst>
          </p:cNvPr>
          <p:cNvSpPr/>
          <p:nvPr/>
        </p:nvSpPr>
        <p:spPr>
          <a:xfrm>
            <a:off x="200162" y="50445"/>
            <a:ext cx="11767125" cy="2396435"/>
          </a:xfrm>
          <a:prstGeom prst="rect">
            <a:avLst/>
          </a:prstGeom>
          <a:noFill/>
          <a:ln w="381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5" name="テキスト ボックス 74">
            <a:extLst>
              <a:ext uri="{FF2B5EF4-FFF2-40B4-BE49-F238E27FC236}">
                <a16:creationId xmlns:a16="http://schemas.microsoft.com/office/drawing/2014/main" id="{DA737365-3E86-48B6-8D20-355CC80AFD63}"/>
              </a:ext>
            </a:extLst>
          </p:cNvPr>
          <p:cNvSpPr txBox="1"/>
          <p:nvPr/>
        </p:nvSpPr>
        <p:spPr>
          <a:xfrm>
            <a:off x="213809" y="70096"/>
            <a:ext cx="242538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ja-JP" sz="2400" b="1" dirty="0">
                <a:solidFill>
                  <a:srgbClr val="000000"/>
                </a:solidFill>
                <a:latin typeface="Arial Unicode MS"/>
              </a:rPr>
              <a:t>Training </a:t>
            </a:r>
            <a:r>
              <a:rPr kumimoji="0" lang="en-US" altLang="ja-JP" sz="2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phase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ja-JP" sz="2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(Every </a:t>
            </a:r>
            <a:r>
              <a:rPr kumimoji="0" lang="en-US" altLang="ja-JP" sz="2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epoch)</a:t>
            </a:r>
            <a:endParaRPr kumimoji="0" lang="ja-JP" altLang="ja-JP" sz="2400" b="1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67" name="直線コネクタ 66">
            <a:extLst>
              <a:ext uri="{FF2B5EF4-FFF2-40B4-BE49-F238E27FC236}">
                <a16:creationId xmlns:a16="http://schemas.microsoft.com/office/drawing/2014/main" id="{C1E94E96-D118-42F4-9450-2DD6166313E8}"/>
              </a:ext>
            </a:extLst>
          </p:cNvPr>
          <p:cNvCxnSpPr>
            <a:cxnSpLocks/>
          </p:cNvCxnSpPr>
          <p:nvPr/>
        </p:nvCxnSpPr>
        <p:spPr>
          <a:xfrm flipH="1">
            <a:off x="6213514" y="4244985"/>
            <a:ext cx="468954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342768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773</TotalTime>
  <Words>55</Words>
  <Application>Microsoft Office PowerPoint</Application>
  <PresentationFormat>ワイド画面</PresentationFormat>
  <Paragraphs>26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7" baseType="lpstr">
      <vt:lpstr>Arial Unicode MS</vt:lpstr>
      <vt:lpstr>游ゴシック</vt:lpstr>
      <vt:lpstr>游ゴシック Light</vt:lpstr>
      <vt:lpstr>Arial</vt:lpstr>
      <vt:lpstr>Cambria Math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廣池　友哉</dc:creator>
  <cp:lastModifiedBy>廣池　友哉</cp:lastModifiedBy>
  <cp:revision>24</cp:revision>
  <dcterms:created xsi:type="dcterms:W3CDTF">2025-09-11T22:40:17Z</dcterms:created>
  <dcterms:modified xsi:type="dcterms:W3CDTF">2026-01-15T05:55:36Z</dcterms:modified>
</cp:coreProperties>
</file>